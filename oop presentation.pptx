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27/04/2026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27/04/2026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27/04/2026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27/04/2026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27/04/2026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27/04/2026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27/04/2026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07818"/>
            <a:ext cx="9144000" cy="6858000"/>
          </a:xfrm>
          <a:prstGeom prst="rect">
            <a:avLst/>
          </a:prstGeom>
          <a:solidFill>
            <a:srgbClr val="1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40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1287" y="1252547"/>
            <a:ext cx="732142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dirty="0">
                <a:solidFill>
                  <a:srgbClr val="F5F7FF"/>
                </a:solidFill>
              </a:rPr>
              <a:t>Student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914400" y="3328054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C8D2FF"/>
                </a:solidFill>
              </a:defRPr>
            </a:pPr>
            <a:r>
              <a:rPr dirty="0"/>
              <a:t>Object-Oriented Programming (C++)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68159" y="4017928"/>
            <a:ext cx="1607684" cy="20621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C8DC"/>
                </a:solidFill>
              </a:defRPr>
            </a:pPr>
            <a:r>
              <a:rPr dirty="0"/>
              <a:t>Group Members:</a:t>
            </a:r>
            <a:endParaRPr lang="en-US" dirty="0"/>
          </a:p>
          <a:p>
            <a:pPr algn="ctr">
              <a:defRPr sz="1600">
                <a:solidFill>
                  <a:srgbClr val="C8C8DC"/>
                </a:solidFill>
              </a:defRPr>
            </a:pPr>
            <a:r>
              <a:rPr lang="en-US" dirty="0"/>
              <a:t>24-0195</a:t>
            </a:r>
          </a:p>
          <a:p>
            <a:pPr algn="ctr">
              <a:defRPr sz="1600">
                <a:solidFill>
                  <a:srgbClr val="C8C8DC"/>
                </a:solidFill>
              </a:defRPr>
            </a:pPr>
            <a:r>
              <a:rPr lang="en-US" dirty="0"/>
              <a:t>24-0281</a:t>
            </a:r>
          </a:p>
          <a:p>
            <a:pPr algn="ctr">
              <a:defRPr sz="1600">
                <a:solidFill>
                  <a:srgbClr val="C8C8DC"/>
                </a:solidFill>
              </a:defRPr>
            </a:pPr>
            <a:r>
              <a:rPr lang="en-US" dirty="0"/>
              <a:t>24-0294</a:t>
            </a:r>
          </a:p>
          <a:p>
            <a:pPr algn="ctr">
              <a:defRPr sz="1600">
                <a:solidFill>
                  <a:srgbClr val="C8C8DC"/>
                </a:solidFill>
              </a:defRPr>
            </a:pPr>
            <a:r>
              <a:rPr lang="en-US" dirty="0"/>
              <a:t>24-0136</a:t>
            </a:r>
          </a:p>
          <a:p>
            <a:pPr algn="ctr">
              <a:defRPr sz="1600">
                <a:solidFill>
                  <a:srgbClr val="C8C8DC"/>
                </a:solidFill>
              </a:defRPr>
            </a:pPr>
            <a:r>
              <a:rPr lang="en-US" dirty="0"/>
              <a:t>24-0287</a:t>
            </a:r>
          </a:p>
          <a:p>
            <a:pPr algn="ctr">
              <a:defRPr sz="1600">
                <a:solidFill>
                  <a:srgbClr val="C8C8DC"/>
                </a:solidFill>
              </a:defRPr>
            </a:pPr>
            <a:endParaRPr lang="en-US" dirty="0"/>
          </a:p>
          <a:p>
            <a:pPr algn="ctr">
              <a:defRPr sz="1600">
                <a:solidFill>
                  <a:srgbClr val="C8C8DC"/>
                </a:solidFill>
              </a:defRPr>
            </a:pP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139942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C8"/>
                </a:solidFill>
              </a:defRPr>
            </a:pPr>
            <a:r>
              <a:rPr dirty="0"/>
              <a:t>Initial Presentation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40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 dirty="0">
                <a:solidFill>
                  <a:srgbClr val="F5F7FF"/>
                </a:solidFill>
              </a:rPr>
              <a:t>System 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533657"/>
            <a:ext cx="832104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5F7FF"/>
                </a:solidFill>
              </a:defRPr>
            </a:pPr>
            <a:r>
              <a:rPr dirty="0"/>
              <a:t>Purpose: Build a simplified</a:t>
            </a:r>
            <a:r>
              <a:rPr lang="en-US" dirty="0"/>
              <a:t> Student Management System</a:t>
            </a:r>
            <a:r>
              <a:rPr dirty="0"/>
              <a:t>.</a:t>
            </a:r>
          </a:p>
          <a:p>
            <a:pPr>
              <a:defRPr sz="2200">
                <a:solidFill>
                  <a:srgbClr val="F5F7FF"/>
                </a:solidFill>
              </a:defRPr>
            </a:pPr>
            <a:r>
              <a:rPr dirty="0"/>
              <a:t>The system manages students, instructors, courses, and enrollments.</a:t>
            </a:r>
          </a:p>
          <a:p>
            <a:pPr>
              <a:defRPr sz="2200">
                <a:solidFill>
                  <a:srgbClr val="F5F7FF"/>
                </a:solidFill>
              </a:defRPr>
            </a:pPr>
            <a:endParaRPr lang="en-US" dirty="0"/>
          </a:p>
          <a:p>
            <a:pPr>
              <a:defRPr sz="2200">
                <a:solidFill>
                  <a:srgbClr val="F5F7FF"/>
                </a:solidFill>
              </a:defRPr>
            </a:pPr>
            <a:r>
              <a:rPr dirty="0"/>
              <a:t>Main Goals:</a:t>
            </a:r>
          </a:p>
          <a:p>
            <a:pPr lvl="1">
              <a:defRPr sz="2200">
                <a:solidFill>
                  <a:srgbClr val="F5F7FF"/>
                </a:solidFill>
              </a:defRPr>
            </a:pPr>
            <a:r>
              <a:rPr dirty="0"/>
              <a:t>Organize academic data efficiently</a:t>
            </a:r>
          </a:p>
          <a:p>
            <a:pPr lvl="1">
              <a:defRPr sz="2200">
                <a:solidFill>
                  <a:srgbClr val="F5F7FF"/>
                </a:solidFill>
              </a:defRPr>
            </a:pPr>
            <a:r>
              <a:rPr dirty="0"/>
              <a:t>Allow students to register/drop courses</a:t>
            </a:r>
          </a:p>
          <a:p>
            <a:pPr lvl="1">
              <a:defRPr sz="2200">
                <a:solidFill>
                  <a:srgbClr val="F5F7FF"/>
                </a:solidFill>
              </a:defRPr>
            </a:pPr>
            <a:r>
              <a:rPr dirty="0"/>
              <a:t>Allow instructors to manage grades</a:t>
            </a:r>
          </a:p>
          <a:p>
            <a:pPr lvl="1">
              <a:defRPr sz="2200">
                <a:solidFill>
                  <a:srgbClr val="F5F7FF"/>
                </a:solidFill>
              </a:defRPr>
            </a:pPr>
            <a:r>
              <a:rPr dirty="0"/>
              <a:t>Provide admin control over the whole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C8"/>
                </a:solidFill>
              </a:defRPr>
            </a:pPr>
            <a:r>
              <a:rPr dirty="0"/>
              <a:t>OOP Project • Student Management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40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 dirty="0">
                <a:solidFill>
                  <a:srgbClr val="F5F7FF"/>
                </a:solidFill>
              </a:rPr>
              <a:t>System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64592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5F7FF"/>
                </a:solidFill>
              </a:defRPr>
            </a:pPr>
            <a:r>
              <a:rPr dirty="0"/>
              <a:t>Admin Features:</a:t>
            </a:r>
          </a:p>
          <a:p>
            <a:pPr lvl="1">
              <a:defRPr sz="2000">
                <a:solidFill>
                  <a:srgbClr val="F5F7FF"/>
                </a:solidFill>
              </a:defRPr>
            </a:pPr>
            <a:r>
              <a:rPr dirty="0"/>
              <a:t>Add / Update / Delete Students</a:t>
            </a:r>
          </a:p>
          <a:p>
            <a:pPr lvl="1">
              <a:defRPr sz="2000">
                <a:solidFill>
                  <a:srgbClr val="F5F7FF"/>
                </a:solidFill>
              </a:defRPr>
            </a:pPr>
            <a:r>
              <a:rPr dirty="0"/>
              <a:t>Add / Update / Delete Instructors</a:t>
            </a:r>
          </a:p>
          <a:p>
            <a:pPr lvl="1">
              <a:defRPr sz="2000">
                <a:solidFill>
                  <a:srgbClr val="F5F7FF"/>
                </a:solidFill>
              </a:defRPr>
            </a:pPr>
            <a:r>
              <a:rPr dirty="0"/>
              <a:t>Add / Update / Delete Courses</a:t>
            </a:r>
          </a:p>
          <a:p>
            <a:pPr lvl="1">
              <a:defRPr sz="2000">
                <a:solidFill>
                  <a:srgbClr val="F5F7FF"/>
                </a:solidFill>
              </a:defRPr>
            </a:pPr>
            <a:r>
              <a:rPr dirty="0"/>
              <a:t>Assign Instructor to Course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6336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5F7FF"/>
                </a:solidFill>
              </a:defRPr>
            </a:pPr>
            <a:r>
              <a:rPr dirty="0"/>
              <a:t>Instructor Features:</a:t>
            </a:r>
          </a:p>
          <a:p>
            <a:pPr lvl="1">
              <a:defRPr sz="2000">
                <a:solidFill>
                  <a:srgbClr val="F5F7FF"/>
                </a:solidFill>
              </a:defRPr>
            </a:pPr>
            <a:r>
              <a:rPr dirty="0"/>
              <a:t>View assigned courses</a:t>
            </a:r>
          </a:p>
          <a:p>
            <a:pPr lvl="1">
              <a:defRPr sz="2000">
                <a:solidFill>
                  <a:srgbClr val="F5F7FF"/>
                </a:solidFill>
              </a:defRPr>
            </a:pPr>
            <a:r>
              <a:rPr dirty="0"/>
              <a:t>View enrolled students</a:t>
            </a:r>
          </a:p>
          <a:p>
            <a:pPr lvl="1">
              <a:defRPr sz="2000">
                <a:solidFill>
                  <a:srgbClr val="F5F7FF"/>
                </a:solidFill>
              </a:defRPr>
            </a:pPr>
            <a:r>
              <a:rPr dirty="0"/>
              <a:t>Add / Update grades</a:t>
            </a:r>
          </a:p>
          <a:p>
            <a:pPr>
              <a:defRPr sz="2000">
                <a:solidFill>
                  <a:srgbClr val="F5F7FF"/>
                </a:solidFill>
              </a:defRPr>
            </a:pPr>
            <a:endParaRPr dirty="0"/>
          </a:p>
          <a:p>
            <a:pPr>
              <a:defRPr sz="2000">
                <a:solidFill>
                  <a:srgbClr val="F5F7FF"/>
                </a:solidFill>
              </a:defRPr>
            </a:pPr>
            <a:r>
              <a:rPr dirty="0"/>
              <a:t>Student Features:</a:t>
            </a:r>
          </a:p>
          <a:p>
            <a:pPr lvl="1">
              <a:defRPr sz="2000">
                <a:solidFill>
                  <a:srgbClr val="F5F7FF"/>
                </a:solidFill>
              </a:defRPr>
            </a:pPr>
            <a:r>
              <a:rPr dirty="0"/>
              <a:t>Register / Drop courses</a:t>
            </a:r>
          </a:p>
          <a:p>
            <a:pPr lvl="1">
              <a:defRPr sz="2000">
                <a:solidFill>
                  <a:srgbClr val="F5F7FF"/>
                </a:solidFill>
              </a:defRPr>
            </a:pPr>
            <a:r>
              <a:rPr dirty="0"/>
              <a:t>View grades and GPA</a:t>
            </a:r>
          </a:p>
          <a:p>
            <a:pPr lvl="1">
              <a:defRPr sz="2000">
                <a:solidFill>
                  <a:srgbClr val="F5F7FF"/>
                </a:solidFill>
              </a:defRPr>
            </a:pPr>
            <a:r>
              <a:rPr dirty="0"/>
              <a:t>View transcript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C8"/>
                </a:solidFill>
              </a:defRPr>
            </a:pPr>
            <a:r>
              <a:rPr dirty="0"/>
              <a:t>OOP Project • Student Management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40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7FF"/>
                </a:solidFill>
              </a:rPr>
              <a:t>Main Classes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7198" y="1645920"/>
            <a:ext cx="8165321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F5F7FF"/>
                </a:solidFill>
              </a:defRPr>
            </a:pPr>
            <a:r>
              <a:rPr dirty="0"/>
              <a:t>Core Classes in the System:</a:t>
            </a:r>
          </a:p>
          <a:p>
            <a:pPr lvl="1">
              <a:defRPr sz="2600">
                <a:solidFill>
                  <a:srgbClr val="F5F7FF"/>
                </a:solidFill>
              </a:defRPr>
            </a:pPr>
            <a:r>
              <a:rPr dirty="0"/>
              <a:t>User (Base Class)</a:t>
            </a:r>
          </a:p>
          <a:p>
            <a:pPr lvl="1">
              <a:defRPr sz="2600">
                <a:solidFill>
                  <a:srgbClr val="F5F7FF"/>
                </a:solidFill>
              </a:defRPr>
            </a:pPr>
            <a:r>
              <a:rPr dirty="0"/>
              <a:t>Student : public User</a:t>
            </a:r>
          </a:p>
          <a:p>
            <a:pPr lvl="1">
              <a:defRPr sz="2600">
                <a:solidFill>
                  <a:srgbClr val="F5F7FF"/>
                </a:solidFill>
              </a:defRPr>
            </a:pPr>
            <a:r>
              <a:rPr dirty="0"/>
              <a:t>Instructor : public User</a:t>
            </a:r>
          </a:p>
          <a:p>
            <a:pPr lvl="1">
              <a:defRPr sz="2600">
                <a:solidFill>
                  <a:srgbClr val="F5F7FF"/>
                </a:solidFill>
              </a:defRPr>
            </a:pPr>
            <a:r>
              <a:rPr dirty="0"/>
              <a:t>Admin : public User</a:t>
            </a:r>
          </a:p>
          <a:p>
            <a:pPr lvl="1">
              <a:defRPr sz="2600">
                <a:solidFill>
                  <a:srgbClr val="F5F7FF"/>
                </a:solidFill>
              </a:defRPr>
            </a:pPr>
            <a:r>
              <a:rPr dirty="0"/>
              <a:t>Course</a:t>
            </a:r>
          </a:p>
          <a:p>
            <a:pPr lvl="1">
              <a:defRPr sz="2600">
                <a:solidFill>
                  <a:srgbClr val="F5F7FF"/>
                </a:solidFill>
              </a:defRPr>
            </a:pPr>
            <a:r>
              <a:rPr dirty="0"/>
              <a:t>Enrollment</a:t>
            </a:r>
          </a:p>
          <a:p>
            <a:pPr lvl="1">
              <a:defRPr sz="2600">
                <a:solidFill>
                  <a:srgbClr val="F5F7FF"/>
                </a:solidFill>
              </a:defRPr>
            </a:pPr>
            <a:r>
              <a:rPr dirty="0"/>
              <a:t>Student</a:t>
            </a:r>
            <a:r>
              <a:rPr lang="en-US" dirty="0"/>
              <a:t> M</a:t>
            </a:r>
            <a:r>
              <a:rPr dirty="0"/>
              <a:t>anagement</a:t>
            </a:r>
            <a:r>
              <a:rPr lang="en-US" dirty="0"/>
              <a:t> S</a:t>
            </a:r>
            <a:r>
              <a:rPr dirty="0"/>
              <a:t>ystem (Controller)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C8"/>
                </a:solidFill>
              </a:defRPr>
            </a:pPr>
            <a:r>
              <a:t>OOP Project • Student Management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40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 dirty="0">
                <a:solidFill>
                  <a:srgbClr val="F5F7FF"/>
                </a:solidFill>
              </a:rPr>
              <a:t>Class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8434" y="1463040"/>
            <a:ext cx="816713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5F7FF"/>
                </a:solidFill>
              </a:defRPr>
            </a:pPr>
            <a:r>
              <a:rPr dirty="0"/>
              <a:t>User: Stores common data (ID, name, password) and login functionality.</a:t>
            </a:r>
          </a:p>
          <a:p>
            <a:pPr>
              <a:defRPr sz="1800">
                <a:solidFill>
                  <a:srgbClr val="F5F7FF"/>
                </a:solidFill>
              </a:defRPr>
            </a:pPr>
            <a:r>
              <a:rPr dirty="0"/>
              <a:t>Student: Registers/drops courses, views grades, calculates GPA.</a:t>
            </a:r>
          </a:p>
          <a:p>
            <a:pPr>
              <a:defRPr sz="1800">
                <a:solidFill>
                  <a:srgbClr val="F5F7FF"/>
                </a:solidFill>
              </a:defRPr>
            </a:pPr>
            <a:r>
              <a:rPr dirty="0"/>
              <a:t>Instructor: Views assigned courses and manages student grades.</a:t>
            </a:r>
          </a:p>
          <a:p>
            <a:pPr>
              <a:defRPr sz="1800">
                <a:solidFill>
                  <a:srgbClr val="F5F7FF"/>
                </a:solidFill>
              </a:defRPr>
            </a:pPr>
            <a:r>
              <a:rPr dirty="0"/>
              <a:t>Admin: Manages students, instructors, and courses (full system control).</a:t>
            </a:r>
          </a:p>
          <a:p>
            <a:pPr>
              <a:defRPr sz="1800">
                <a:solidFill>
                  <a:srgbClr val="F5F7FF"/>
                </a:solidFill>
              </a:defRPr>
            </a:pPr>
            <a:r>
              <a:rPr dirty="0"/>
              <a:t>Course: Stores course details (code, name, credit hours) and instructor info.</a:t>
            </a:r>
          </a:p>
          <a:p>
            <a:pPr>
              <a:defRPr sz="1800">
                <a:solidFill>
                  <a:srgbClr val="F5F7FF"/>
                </a:solidFill>
              </a:defRPr>
            </a:pPr>
            <a:r>
              <a:rPr dirty="0"/>
              <a:t>Enrollment: Links Student and Course and stores semester + grade.</a:t>
            </a:r>
          </a:p>
          <a:p>
            <a:pPr>
              <a:defRPr sz="1800">
                <a:solidFill>
                  <a:srgbClr val="F5F7FF"/>
                </a:solidFill>
              </a:defRPr>
            </a:pPr>
            <a:r>
              <a:rPr lang="en-US" dirty="0"/>
              <a:t>s</a:t>
            </a:r>
            <a:r>
              <a:rPr dirty="0"/>
              <a:t>tudent</a:t>
            </a:r>
            <a:r>
              <a:rPr lang="en-US" dirty="0"/>
              <a:t> m</a:t>
            </a:r>
            <a:r>
              <a:rPr dirty="0"/>
              <a:t>anagement</a:t>
            </a:r>
            <a:r>
              <a:rPr lang="en-US" dirty="0"/>
              <a:t> s</a:t>
            </a:r>
            <a:r>
              <a:rPr dirty="0"/>
              <a:t>ystem: Manages all lists and controls system operations.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C8"/>
                </a:solidFill>
              </a:defRPr>
            </a:pPr>
            <a:r>
              <a:t>OOP Project • Student Management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40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7FF"/>
                </a:solidFill>
              </a:rPr>
              <a:t>Relationships (Inheritance + Composition)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404645"/>
            <a:ext cx="2743200" cy="731520"/>
          </a:xfrm>
          <a:prstGeom prst="roundRect">
            <a:avLst/>
          </a:prstGeom>
          <a:solidFill>
            <a:srgbClr val="1E233C"/>
          </a:solidFill>
          <a:ln>
            <a:solidFill>
              <a:srgbClr val="40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F"/>
                </a:solidFill>
              </a:rPr>
              <a:t>User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" y="2752253"/>
            <a:ext cx="2743200" cy="731520"/>
          </a:xfrm>
          <a:prstGeom prst="roundRect">
            <a:avLst/>
          </a:prstGeom>
          <a:solidFill>
            <a:srgbClr val="1E233C"/>
          </a:solidFill>
          <a:ln>
            <a:solidFill>
              <a:srgbClr val="40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F"/>
                </a:solidFill>
              </a:rPr>
              <a:t>Student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2752253"/>
            <a:ext cx="2743200" cy="731520"/>
          </a:xfrm>
          <a:prstGeom prst="roundRect">
            <a:avLst/>
          </a:prstGeom>
          <a:solidFill>
            <a:srgbClr val="1E233C"/>
          </a:solidFill>
          <a:ln>
            <a:solidFill>
              <a:srgbClr val="40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F"/>
                </a:solidFill>
              </a:rPr>
              <a:t>Instructor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752253"/>
            <a:ext cx="2743200" cy="731520"/>
          </a:xfrm>
          <a:prstGeom prst="roundRect">
            <a:avLst/>
          </a:prstGeom>
          <a:solidFill>
            <a:srgbClr val="1E233C"/>
          </a:solidFill>
          <a:ln>
            <a:solidFill>
              <a:srgbClr val="40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F"/>
                </a:solidFill>
              </a:rPr>
              <a:t>Admin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" y="4284100"/>
            <a:ext cx="2743200" cy="731520"/>
          </a:xfrm>
          <a:prstGeom prst="roundRect">
            <a:avLst/>
          </a:prstGeom>
          <a:solidFill>
            <a:srgbClr val="1E233C"/>
          </a:solidFill>
          <a:ln>
            <a:solidFill>
              <a:srgbClr val="40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F"/>
                </a:solidFill>
              </a:rPr>
              <a:t>Course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4286816"/>
            <a:ext cx="2743200" cy="731520"/>
          </a:xfrm>
          <a:prstGeom prst="roundRect">
            <a:avLst/>
          </a:prstGeom>
          <a:solidFill>
            <a:srgbClr val="1E233C"/>
          </a:solidFill>
          <a:ln>
            <a:solidFill>
              <a:srgbClr val="40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F"/>
                </a:solidFill>
              </a:rPr>
              <a:t>Enrollment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289532"/>
            <a:ext cx="2743200" cy="731520"/>
          </a:xfrm>
          <a:prstGeom prst="roundRect">
            <a:avLst/>
          </a:prstGeom>
          <a:solidFill>
            <a:srgbClr val="1E233C"/>
          </a:solidFill>
          <a:ln>
            <a:solidFill>
              <a:srgbClr val="40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F"/>
                </a:solidFill>
              </a:rPr>
              <a:t>StudentManagementSystem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" y="5372361"/>
            <a:ext cx="8961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5F7FF"/>
                </a:solidFill>
              </a:defRPr>
            </a:pPr>
            <a:r>
              <a:rPr dirty="0"/>
              <a:t>Inheritance: Student, Instructor, Admin are derived from User • Composition: System has Students, Courses, Enrollments • Many-to-Many: Student ↔ Course via Enrollment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C8"/>
                </a:solidFill>
              </a:defRPr>
            </a:pPr>
            <a:r>
              <a:rPr dirty="0"/>
              <a:t>OOP Project • Student Management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09bd8a8-5623-4ab5-9375-54d58687498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E5B0AE5886604EA13C783B53790866" ma:contentTypeVersion="6" ma:contentTypeDescription="Create a new document." ma:contentTypeScope="" ma:versionID="302514b1b91a93d589b0218c52fa02db">
  <xsd:schema xmlns:xsd="http://www.w3.org/2001/XMLSchema" xmlns:xs="http://www.w3.org/2001/XMLSchema" xmlns:p="http://schemas.microsoft.com/office/2006/metadata/properties" xmlns:ns3="409bd8a8-5623-4ab5-9375-54d586874987" targetNamespace="http://schemas.microsoft.com/office/2006/metadata/properties" ma:root="true" ma:fieldsID="f6ebff817cdba8fa03d4f713c2dc6208" ns3:_="">
    <xsd:import namespace="409bd8a8-5623-4ab5-9375-54d58687498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9bd8a8-5623-4ab5-9375-54d58687498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851F6A2-6A42-4801-BAB8-190D7AD42EA7}">
  <ds:schemaRefs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409bd8a8-5623-4ab5-9375-54d586874987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4627D008-865C-4D32-A8F0-28ED2AF0A0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1D18036-9182-4E65-852E-03931BC860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09bd8a8-5623-4ab5-9375-54d58687498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327</Words>
  <Application>Microsoft Office PowerPoint</Application>
  <PresentationFormat>On-screen Show (4:3)</PresentationFormat>
  <Paragraphs>64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Qais alnabhani</dc:creator>
  <cp:keywords/>
  <dc:description>generated using python-pptx</dc:description>
  <cp:lastModifiedBy>Abdullah Al Reyami</cp:lastModifiedBy>
  <cp:revision>5</cp:revision>
  <dcterms:created xsi:type="dcterms:W3CDTF">2013-01-27T09:14:16Z</dcterms:created>
  <dcterms:modified xsi:type="dcterms:W3CDTF">2026-04-27T09:14:56Z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0x010100E0E5B0AE5886604EA13C783B53790866</vt:lpwstr>
  </property>
</Properties>
</file>